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DM Sans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EA1639-FDA5-472F-A336-2EBD0077B9F6}">
  <a:tblStyle styleId="{49EA1639-FDA5-472F-A336-2EBD0077B9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3CE14DC-C49C-4FF3-882A-6B1032158C9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8ad091a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08ad091a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08ad091ac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08ad091a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08ad091ac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08ad091a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08ad091ac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08ad091a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8ad091ac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08ad091a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8ad091ac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08ad091a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8ad091ac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08ad091a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8ad091ac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08ad091a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08ad091ac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08ad091a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08ad091ac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08ad091a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08ad091ac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08ad091a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08ad091ac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08ad091ac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08ad091ac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08ad091ac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08ad091ac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08ad091ac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08ad091ac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08ad091ac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08ad091ac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08ad091a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08ad091ac_0_3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08ad091ac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08ad091ac_0_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08ad091ac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08ad091ac_0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08ad091a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08ad091ac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08ad091a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08ad091ac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08ad091ac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08ad091ac_0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08ad091a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028700" y="811709"/>
            <a:ext cx="16230600" cy="8446591"/>
            <a:chOff x="0" y="-57150"/>
            <a:chExt cx="4274726" cy="2224617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1981200" y="-94024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 txBox="1"/>
          <p:nvPr/>
        </p:nvSpPr>
        <p:spPr>
          <a:xfrm>
            <a:off x="5372730" y="1901102"/>
            <a:ext cx="10620300" cy="5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NYC Car Crash and Injuries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981200" y="6267450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 rot="10800000">
            <a:off x="5623560" y="7673106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 txBox="1"/>
          <p:nvPr/>
        </p:nvSpPr>
        <p:spPr>
          <a:xfrm>
            <a:off x="13849825" y="7916525"/>
            <a:ext cx="21432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Helen Jeon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yellow taxi with a blue streeteasy sign on top (Provided by Tenor)" id="92" name="Google Shape;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5388" y="1677479"/>
            <a:ext cx="5689825" cy="42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4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4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64638" y="2203800"/>
            <a:ext cx="18158700" cy="5879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Given characteristics of a crash, what is the probability that the crash results in an injury?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5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>
            <a:off x="137137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5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5"/>
          <p:cNvSpPr txBox="1"/>
          <p:nvPr/>
        </p:nvSpPr>
        <p:spPr>
          <a:xfrm>
            <a:off x="532573" y="654425"/>
            <a:ext cx="13924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532575" y="3083918"/>
            <a:ext cx="17541600" cy="582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NYC Open Data: NYC Vehicle Collisions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Features:  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Number of persons injured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Contributing Factors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Vehicle Code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Borough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Date &amp; Time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6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6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6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6"/>
          <p:cNvSpPr txBox="1"/>
          <p:nvPr/>
        </p:nvSpPr>
        <p:spPr>
          <a:xfrm>
            <a:off x="681673" y="890650"/>
            <a:ext cx="13924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Findings</a:t>
            </a: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681675" y="3448663"/>
            <a:ext cx="17541600" cy="462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Risk is heavily concentrated during periods of high activity and geographic density.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Manhattan is the most hazardous borough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Risk peaks on Mondays and Tuesdays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0" lvl="0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Most dangerous at 11:00 AM and 11:00 PM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33" name="Google Shape;133;p17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17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7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7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7"/>
          <p:cNvSpPr txBox="1"/>
          <p:nvPr/>
        </p:nvSpPr>
        <p:spPr>
          <a:xfrm>
            <a:off x="2181748" y="4181550"/>
            <a:ext cx="13924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Exploration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8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8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8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8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9" name="Google Shape;149;p18" title="Screenshot 2026-05-10 at 2.03.5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3525" y="708750"/>
            <a:ext cx="11334325" cy="88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9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55" name="Google Shape;155;p19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9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9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9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0" name="Google Shape;160;p19" title="Screenshot 2026-05-10 at 1.26.4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2938" y="866775"/>
            <a:ext cx="11315700" cy="85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0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66" name="Google Shape;166;p20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20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0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20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1" name="Google Shape;171;p20" title="Screenshot 2026-05-10 at 2.08.2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3625" y="964575"/>
            <a:ext cx="13893725" cy="829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1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177" name="Google Shape;177;p2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1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21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21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21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21"/>
          <p:cNvSpPr txBox="1"/>
          <p:nvPr/>
        </p:nvSpPr>
        <p:spPr>
          <a:xfrm>
            <a:off x="2181748" y="2492550"/>
            <a:ext cx="139245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Logistic Regression</a:t>
            </a:r>
            <a:endParaRPr b="1" sz="10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Modeling</a:t>
            </a:r>
            <a:endParaRPr sz="10000"/>
          </a:p>
        </p:txBody>
      </p:sp>
      <p:sp>
        <p:nvSpPr>
          <p:cNvPr id="183" name="Google Shape;183;p21"/>
          <p:cNvSpPr txBox="1"/>
          <p:nvPr>
            <p:ph type="title"/>
          </p:nvPr>
        </p:nvSpPr>
        <p:spPr>
          <a:xfrm>
            <a:off x="64650" y="3204073"/>
            <a:ext cx="18158700" cy="443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Injured = 1, Not injured = 0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2"/>
          <p:cNvGrpSpPr/>
          <p:nvPr/>
        </p:nvGrpSpPr>
        <p:grpSpPr>
          <a:xfrm>
            <a:off x="-3263" y="274648"/>
            <a:ext cx="18288133" cy="9517356"/>
            <a:chOff x="0" y="-57150"/>
            <a:chExt cx="4274726" cy="2224617"/>
          </a:xfrm>
        </p:grpSpPr>
        <p:sp>
          <p:nvSpPr>
            <p:cNvPr id="189" name="Google Shape;189;p22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2"/>
          <p:cNvSpPr/>
          <p:nvPr/>
        </p:nvSpPr>
        <p:spPr>
          <a:xfrm>
            <a:off x="573625" y="804155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22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22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94" name="Google Shape;194;p22"/>
          <p:cNvGraphicFramePr/>
          <p:nvPr/>
        </p:nvGraphicFramePr>
        <p:xfrm>
          <a:off x="2731000" y="39090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{49EA1639-FDA5-472F-A336-2EBD0077B9F6}</a:tableStyleId>
              </a:tblPr>
              <a:tblGrid>
                <a:gridCol w="3357175"/>
                <a:gridCol w="3357175"/>
              </a:tblGrid>
              <a:tr h="137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</a:t>
                      </a:r>
                      <a:endParaRPr b="1" sz="5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</a:t>
                      </a:r>
                      <a:endParaRPr b="1" sz="5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0.729</a:t>
                      </a:r>
                      <a:endParaRPr b="1" sz="5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</a:t>
                      </a:r>
                      <a:endParaRPr b="1" sz="5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0.676</a:t>
                      </a:r>
                      <a:endParaRPr b="1" sz="5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2"/>
          <p:cNvSpPr txBox="1"/>
          <p:nvPr/>
        </p:nvSpPr>
        <p:spPr>
          <a:xfrm>
            <a:off x="9684650" y="4759365"/>
            <a:ext cx="6205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Baseline Accuracy: 0.657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3306150" y="1058625"/>
            <a:ext cx="11675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Accuracy of</a:t>
            </a:r>
            <a:r>
              <a:rPr b="1" lang="en-US" sz="10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</a:t>
            </a:r>
            <a:endParaRPr sz="10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3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02" name="Google Shape;202;p23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3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3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23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23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7" name="Google Shape;207;p23" title="Screenshot 2026-05-10 at 2.26.0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713" y="384825"/>
            <a:ext cx="10826505" cy="951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11917750" y="2397650"/>
            <a:ext cx="6367200" cy="5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Recall = TP / (TP+FN)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= 19 / (19 + 63) 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= 19 / 82 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≈ 0.23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4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14" name="Google Shape;214;p24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4"/>
          <p:cNvSpPr/>
          <p:nvPr/>
        </p:nvSpPr>
        <p:spPr>
          <a:xfrm>
            <a:off x="146685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24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24"/>
          <p:cNvSpPr txBox="1"/>
          <p:nvPr>
            <p:ph type="title"/>
          </p:nvPr>
        </p:nvSpPr>
        <p:spPr>
          <a:xfrm>
            <a:off x="-175" y="551350"/>
            <a:ext cx="18288000" cy="169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Coefficient of Top 10 Factors</a:t>
            </a:r>
            <a:endParaRPr b="1" sz="10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19" name="Google Shape;219;p24"/>
          <p:cNvGraphicFramePr/>
          <p:nvPr/>
        </p:nvGraphicFramePr>
        <p:xfrm>
          <a:off x="2781300" y="258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{F3CE14DC-C49C-4FF3-882A-6B1032158C97}</a:tableStyleId>
              </a:tblPr>
              <a:tblGrid>
                <a:gridCol w="9896475"/>
                <a:gridCol w="28289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VEHICLE_CODE_Motorcycle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1.40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VEHICLE_CODE_Bike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1.20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FACTORS_Failure to Yield Right-of-Way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1.07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HOUR_11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0.92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FACTORS_Traffic Control Disregarded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0.89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VEHICLE_CODE_E-Bike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0.88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HOUR_23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0.84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FACTORS_Pedestrian/Bicyclist/Other Pedestrian Error/Confusion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0.78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HOUR_2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0.61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FACTORS_Following Too Closely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0.60</a:t>
                      </a:r>
                      <a:endParaRPr sz="3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5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25" name="Google Shape;225;p25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5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25"/>
          <p:cNvSpPr/>
          <p:nvPr/>
        </p:nvSpPr>
        <p:spPr>
          <a:xfrm>
            <a:off x="665975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25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5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0" name="Google Shape;230;p25" title="Screenshot 2026-05-10 at 2.35.5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4450" y="876300"/>
            <a:ext cx="11487150" cy="85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6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36" name="Google Shape;236;p26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6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26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26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26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1" name="Google Shape;241;p26" title="Screenshot 2026-05-10 at 2.37.0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4350" y="680400"/>
            <a:ext cx="11543175" cy="88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7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47" name="Google Shape;247;p27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27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27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7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2" name="Google Shape;252;p27" title="Screenshot 2026-05-10 at 2.37.5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1350" y="666600"/>
            <a:ext cx="11370532" cy="895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8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58" name="Google Shape;258;p28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8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8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8"/>
          <p:cNvSpPr txBox="1"/>
          <p:nvPr/>
        </p:nvSpPr>
        <p:spPr>
          <a:xfrm>
            <a:off x="2208561" y="3761125"/>
            <a:ext cx="13924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Grid Searching </a:t>
            </a:r>
            <a:endParaRPr b="1" sz="12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28"/>
          <p:cNvSpPr txBox="1"/>
          <p:nvPr>
            <p:ph type="title"/>
          </p:nvPr>
        </p:nvSpPr>
        <p:spPr>
          <a:xfrm>
            <a:off x="4858455" y="5925590"/>
            <a:ext cx="8624700" cy="139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Class Weight: Balanced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9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70" name="Google Shape;270;p29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9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29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9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29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9"/>
          <p:cNvSpPr txBox="1"/>
          <p:nvPr>
            <p:ph type="title"/>
          </p:nvPr>
        </p:nvSpPr>
        <p:spPr>
          <a:xfrm>
            <a:off x="10416359" y="1088575"/>
            <a:ext cx="6192300" cy="139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Recall Score: 0.59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6" name="Google Shape;276;p29" title="Screenshot 2026-05-10 at 3.01.4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321" y="2270975"/>
            <a:ext cx="8302828" cy="72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 title="Screenshot 2026-05-10 at 3.01.47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51675" y="2302300"/>
            <a:ext cx="8121675" cy="72162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>
            <p:ph type="title"/>
          </p:nvPr>
        </p:nvSpPr>
        <p:spPr>
          <a:xfrm>
            <a:off x="1680009" y="1088575"/>
            <a:ext cx="6192300" cy="139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Recall Score: 0.23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30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84" name="Google Shape;284;p30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0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30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30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30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30"/>
          <p:cNvSpPr txBox="1"/>
          <p:nvPr/>
        </p:nvSpPr>
        <p:spPr>
          <a:xfrm>
            <a:off x="2178548" y="2257500"/>
            <a:ext cx="13924500" cy="5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Lowering Probability Threshold</a:t>
            </a:r>
            <a:endParaRPr b="1" sz="12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1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295" name="Google Shape;295;p3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1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31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31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31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31"/>
          <p:cNvSpPr txBox="1"/>
          <p:nvPr/>
        </p:nvSpPr>
        <p:spPr>
          <a:xfrm>
            <a:off x="681675" y="890650"/>
            <a:ext cx="17606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0.3 Probability Threshold</a:t>
            </a:r>
            <a:endParaRPr sz="10000"/>
          </a:p>
        </p:txBody>
      </p:sp>
      <p:pic>
        <p:nvPicPr>
          <p:cNvPr id="301" name="Google Shape;301;p31" title="Screenshot 2026-05-10 at 2.59.1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2164" y="2429950"/>
            <a:ext cx="9010811" cy="75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>
            <p:ph type="title"/>
          </p:nvPr>
        </p:nvSpPr>
        <p:spPr>
          <a:xfrm>
            <a:off x="12915438" y="4020753"/>
            <a:ext cx="4947300" cy="224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Recall Score: 0.77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2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308" name="Google Shape;308;p32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32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32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1675" y="3290900"/>
            <a:ext cx="17541600" cy="582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4" name="Google Shape;314;p32" title="Screenshot 2026-05-10 at 2.54.3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491" y="1987900"/>
            <a:ext cx="8926559" cy="74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2" title="Screenshot 2026-05-10 at 2.54.4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06781" y="1987900"/>
            <a:ext cx="8527670" cy="74292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2"/>
          <p:cNvSpPr txBox="1"/>
          <p:nvPr>
            <p:ph type="title"/>
          </p:nvPr>
        </p:nvSpPr>
        <p:spPr>
          <a:xfrm>
            <a:off x="10416359" y="1088575"/>
            <a:ext cx="6192300" cy="139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Recall Score: 0.67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32"/>
          <p:cNvSpPr txBox="1"/>
          <p:nvPr>
            <p:ph type="title"/>
          </p:nvPr>
        </p:nvSpPr>
        <p:spPr>
          <a:xfrm>
            <a:off x="1680009" y="1088575"/>
            <a:ext cx="6192300" cy="139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Recall Score: 0.32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33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323" name="Google Shape;323;p33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3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33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33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33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33"/>
          <p:cNvSpPr txBox="1"/>
          <p:nvPr/>
        </p:nvSpPr>
        <p:spPr>
          <a:xfrm>
            <a:off x="681673" y="890650"/>
            <a:ext cx="13924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29" name="Google Shape;329;p33"/>
          <p:cNvSpPr txBox="1"/>
          <p:nvPr>
            <p:ph type="title"/>
          </p:nvPr>
        </p:nvSpPr>
        <p:spPr>
          <a:xfrm>
            <a:off x="681675" y="2814550"/>
            <a:ext cx="17541600" cy="630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Based on Injury Risk Coefficients: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"/>
              <a:buChar char="●"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Manhattan identified as the most hazardous borough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"/>
              <a:buChar char="●"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Risk if highest late at night (10:00PM) and </a:t>
            </a: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during</a:t>
            </a: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the midday rush (11:00 AM)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"/>
              <a:buChar char="●"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Collisions involving motorcycles and </a:t>
            </a: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bicycles</a:t>
            </a: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are the strongest predictors of injury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"/>
              <a:buChar char="●"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Traffic violations are major risk indicators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34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335" name="Google Shape;335;p34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4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34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34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34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34"/>
          <p:cNvSpPr txBox="1"/>
          <p:nvPr/>
        </p:nvSpPr>
        <p:spPr>
          <a:xfrm>
            <a:off x="681673" y="890650"/>
            <a:ext cx="13924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Conclusion </a:t>
            </a:r>
            <a:endParaRPr/>
          </a:p>
        </p:txBody>
      </p:sp>
      <p:sp>
        <p:nvSpPr>
          <p:cNvPr id="341" name="Google Shape;341;p34"/>
          <p:cNvSpPr txBox="1"/>
          <p:nvPr>
            <p:ph type="title"/>
          </p:nvPr>
        </p:nvSpPr>
        <p:spPr>
          <a:xfrm>
            <a:off x="681675" y="2814550"/>
            <a:ext cx="17541600" cy="630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"/>
              <a:buChar char="●"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Initial model struggled to identify actual injury cases, with recall score of 0.23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"/>
              <a:buChar char="●"/>
            </a:pPr>
            <a:r>
              <a:rPr lang="en-US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Optimizing for recall score with grid searching and lowering the probability threshold reduced the number of missed injuries. </a:t>
            </a:r>
            <a:endParaRPr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35"/>
          <p:cNvGrpSpPr/>
          <p:nvPr/>
        </p:nvGrpSpPr>
        <p:grpSpPr>
          <a:xfrm>
            <a:off x="-3275" y="274648"/>
            <a:ext cx="18288133" cy="9517356"/>
            <a:chOff x="0" y="-57150"/>
            <a:chExt cx="4274726" cy="2224617"/>
          </a:xfrm>
        </p:grpSpPr>
        <p:sp>
          <p:nvSpPr>
            <p:cNvPr id="347" name="Google Shape;347;p35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103025" lIns="103025" spcFirstLastPara="1" rIns="103025" wrap="square" tIns="103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5"/>
            <p:cNvSpPr txBox="1"/>
            <p:nvPr/>
          </p:nvSpPr>
          <p:spPr>
            <a:xfrm>
              <a:off x="0" y="-57150"/>
              <a:ext cx="4274700" cy="22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" name="Google Shape;349;p35"/>
          <p:cNvSpPr/>
          <p:nvPr/>
        </p:nvSpPr>
        <p:spPr>
          <a:xfrm>
            <a:off x="13337600" y="1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35"/>
          <p:cNvSpPr/>
          <p:nvPr/>
        </p:nvSpPr>
        <p:spPr>
          <a:xfrm>
            <a:off x="11219525" y="6774828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35"/>
          <p:cNvSpPr/>
          <p:nvPr/>
        </p:nvSpPr>
        <p:spPr>
          <a:xfrm rot="10800000">
            <a:off x="14861885" y="7643771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35"/>
          <p:cNvSpPr txBox="1"/>
          <p:nvPr/>
        </p:nvSpPr>
        <p:spPr>
          <a:xfrm>
            <a:off x="681673" y="890650"/>
            <a:ext cx="13924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Next Steps</a:t>
            </a:r>
            <a:r>
              <a:rPr b="1" lang="en-US" sz="1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53" name="Google Shape;353;p35"/>
          <p:cNvSpPr txBox="1"/>
          <p:nvPr>
            <p:ph type="title"/>
          </p:nvPr>
        </p:nvSpPr>
        <p:spPr>
          <a:xfrm>
            <a:off x="498075" y="3428988"/>
            <a:ext cx="17603100" cy="464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09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Similar Modeling for Deaths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609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 Classifier Modeling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609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Add weather data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609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ans"/>
              <a:buChar char="●"/>
            </a:pPr>
            <a:r>
              <a:rPr lang="en-US" sz="6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Interpret for areas with weak infrastructure</a:t>
            </a:r>
            <a:endParaRPr sz="6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